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theme/themeOverride1.xml" ContentType="application/vnd.openxmlformats-officedocument.themeOverr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995" autoAdjust="0"/>
    <p:restoredTop sz="94660"/>
  </p:normalViewPr>
  <p:slideViewPr>
    <p:cSldViewPr snapToGrid="0">
      <p:cViewPr varScale="1">
        <p:scale>
          <a:sx n="87" d="100"/>
          <a:sy n="87" d="100"/>
        </p:scale>
        <p:origin x="-528" y="-8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pPr/>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pPr/>
              <a:t>‹#›</a:t>
            </a:fld>
            <a:endParaRPr lang="en-IN"/>
          </a:p>
        </p:txBody>
      </p:sp>
    </p:spTree>
    <p:extLst>
      <p:ext uri="{BB962C8B-B14F-4D97-AF65-F5344CB8AC3E}">
        <p14:creationId xmlns:p14="http://schemas.microsoft.com/office/powerpoint/2010/main" xmlns=""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56870CDB-78C3-4602-B35C-A826CBF20916}"/>
              </a:ext>
            </a:extLst>
          </p:cNvPr>
          <p:cNvSpPr>
            <a:spLocks noGrp="1"/>
          </p:cNvSpPr>
          <p:nvPr>
            <p:ph type="dt" sz="half" idx="10"/>
          </p:nvPr>
        </p:nvSpPr>
        <p:spPr/>
        <p:txBody>
          <a:bodyPr/>
          <a:lstStyle/>
          <a:p>
            <a:fld id="{2AF27EEE-1B67-445E-AA5D-351EC91D1DEB}" type="datetimeFigureOut">
              <a:rPr lang="en-IN" smtClean="0"/>
              <a:pPr/>
              <a:t>30-09-2026</a:t>
            </a:fld>
            <a:endParaRPr lang="en-IN"/>
          </a:p>
        </p:txBody>
      </p:sp>
      <p:sp>
        <p:nvSpPr>
          <p:cNvPr id="5" name="Footer Placeholder 4">
            <a:extLst>
              <a:ext uri="{FF2B5EF4-FFF2-40B4-BE49-F238E27FC236}">
                <a16:creationId xmlns:a16="http://schemas.microsoft.com/office/drawing/2014/main" xmlns=""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9FA2448-68BE-42AE-8001-48ECE62DC431}"/>
              </a:ext>
            </a:extLst>
          </p:cNvPr>
          <p:cNvSpPr>
            <a:spLocks noGrp="1"/>
          </p:cNvSpPr>
          <p:nvPr>
            <p:ph type="sldNum" sz="quarter" idx="12"/>
          </p:nvPr>
        </p:nvSpPr>
        <p:spPr/>
        <p:txBody>
          <a:bodyPr/>
          <a:lstStyle/>
          <a:p>
            <a:fld id="{BF5B04A4-2082-4D7E-8466-9BA22C990A78}" type="slidenum">
              <a:rPr lang="en-IN" smtClean="0"/>
              <a:pPr/>
              <a:t>‹#›</a:t>
            </a:fld>
            <a:endParaRPr lang="en-IN"/>
          </a:p>
        </p:txBody>
      </p:sp>
    </p:spTree>
    <p:extLst>
      <p:ext uri="{BB962C8B-B14F-4D97-AF65-F5344CB8AC3E}">
        <p14:creationId xmlns:p14="http://schemas.microsoft.com/office/powerpoint/2010/main" xmlns=""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E96DA85-2FDE-4136-B9F6-AF0965475E5A}"/>
              </a:ext>
            </a:extLst>
          </p:cNvPr>
          <p:cNvSpPr>
            <a:spLocks noGrp="1"/>
          </p:cNvSpPr>
          <p:nvPr>
            <p:ph type="dt" sz="half" idx="10"/>
          </p:nvPr>
        </p:nvSpPr>
        <p:spPr/>
        <p:txBody>
          <a:bodyPr/>
          <a:lstStyle/>
          <a:p>
            <a:fld id="{2AF27EEE-1B67-445E-AA5D-351EC91D1DEB}" type="datetimeFigureOut">
              <a:rPr lang="en-IN" smtClean="0"/>
              <a:pPr/>
              <a:t>30-09-2026</a:t>
            </a:fld>
            <a:endParaRPr lang="en-IN"/>
          </a:p>
        </p:txBody>
      </p:sp>
      <p:sp>
        <p:nvSpPr>
          <p:cNvPr id="5" name="Footer Placeholder 4">
            <a:extLst>
              <a:ext uri="{FF2B5EF4-FFF2-40B4-BE49-F238E27FC236}">
                <a16:creationId xmlns:a16="http://schemas.microsoft.com/office/drawing/2014/main" xmlns=""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C09A210-6017-4F71-9E78-B2C329B4A7E3}"/>
              </a:ext>
            </a:extLst>
          </p:cNvPr>
          <p:cNvSpPr>
            <a:spLocks noGrp="1"/>
          </p:cNvSpPr>
          <p:nvPr>
            <p:ph type="sldNum" sz="quarter" idx="12"/>
          </p:nvPr>
        </p:nvSpPr>
        <p:spPr/>
        <p:txBody>
          <a:bodyPr/>
          <a:lstStyle/>
          <a:p>
            <a:fld id="{BF5B04A4-2082-4D7E-8466-9BA22C990A78}" type="slidenum">
              <a:rPr lang="en-IN" smtClean="0"/>
              <a:pPr/>
              <a:t>‹#›</a:t>
            </a:fld>
            <a:endParaRPr lang="en-IN"/>
          </a:p>
        </p:txBody>
      </p:sp>
    </p:spTree>
    <p:extLst>
      <p:ext uri="{BB962C8B-B14F-4D97-AF65-F5344CB8AC3E}">
        <p14:creationId xmlns:p14="http://schemas.microsoft.com/office/powerpoint/2010/main" xmlns=""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CA341469-A18C-498E-BACC-28BCBFE904BB}"/>
              </a:ext>
            </a:extLst>
          </p:cNvPr>
          <p:cNvSpPr>
            <a:spLocks noGrp="1"/>
          </p:cNvSpPr>
          <p:nvPr>
            <p:ph type="dt" sz="half" idx="10"/>
          </p:nvPr>
        </p:nvSpPr>
        <p:spPr/>
        <p:txBody>
          <a:bodyPr/>
          <a:lstStyle/>
          <a:p>
            <a:fld id="{2AF27EEE-1B67-445E-AA5D-351EC91D1DEB}" type="datetimeFigureOut">
              <a:rPr lang="en-IN" smtClean="0"/>
              <a:pPr/>
              <a:t>30-09-2026</a:t>
            </a:fld>
            <a:endParaRPr lang="en-IN"/>
          </a:p>
        </p:txBody>
      </p:sp>
      <p:sp>
        <p:nvSpPr>
          <p:cNvPr id="5" name="Footer Placeholder 4">
            <a:extLst>
              <a:ext uri="{FF2B5EF4-FFF2-40B4-BE49-F238E27FC236}">
                <a16:creationId xmlns:a16="http://schemas.microsoft.com/office/drawing/2014/main" xmlns=""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135ABB1-45F2-4FEA-BB5A-3B053892DBC7}"/>
              </a:ext>
            </a:extLst>
          </p:cNvPr>
          <p:cNvSpPr>
            <a:spLocks noGrp="1"/>
          </p:cNvSpPr>
          <p:nvPr>
            <p:ph type="sldNum" sz="quarter" idx="12"/>
          </p:nvPr>
        </p:nvSpPr>
        <p:spPr/>
        <p:txBody>
          <a:bodyPr/>
          <a:lstStyle/>
          <a:p>
            <a:fld id="{BF5B04A4-2082-4D7E-8466-9BA22C990A78}" type="slidenum">
              <a:rPr lang="en-IN" smtClean="0"/>
              <a:pPr/>
              <a:t>‹#›</a:t>
            </a:fld>
            <a:endParaRPr lang="en-IN"/>
          </a:p>
        </p:txBody>
      </p:sp>
    </p:spTree>
    <p:extLst>
      <p:ext uri="{BB962C8B-B14F-4D97-AF65-F5344CB8AC3E}">
        <p14:creationId xmlns:p14="http://schemas.microsoft.com/office/powerpoint/2010/main" xmlns=""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0F29A939-0957-4E96-B38D-0B2E39D4137F}"/>
              </a:ext>
            </a:extLst>
          </p:cNvPr>
          <p:cNvSpPr>
            <a:spLocks noGrp="1"/>
          </p:cNvSpPr>
          <p:nvPr>
            <p:ph type="dt" sz="half" idx="10"/>
          </p:nvPr>
        </p:nvSpPr>
        <p:spPr/>
        <p:txBody>
          <a:bodyPr/>
          <a:lstStyle/>
          <a:p>
            <a:fld id="{2AF27EEE-1B67-445E-AA5D-351EC91D1DEB}" type="datetimeFigureOut">
              <a:rPr lang="en-IN" smtClean="0"/>
              <a:pPr/>
              <a:t>30-09-2026</a:t>
            </a:fld>
            <a:endParaRPr lang="en-IN"/>
          </a:p>
        </p:txBody>
      </p:sp>
      <p:sp>
        <p:nvSpPr>
          <p:cNvPr id="6" name="Footer Placeholder 5">
            <a:extLst>
              <a:ext uri="{FF2B5EF4-FFF2-40B4-BE49-F238E27FC236}">
                <a16:creationId xmlns:a16="http://schemas.microsoft.com/office/drawing/2014/main" xmlns=""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9184BB79-7CA5-414E-B5B6-6A8E9AEE4A94}"/>
              </a:ext>
            </a:extLst>
          </p:cNvPr>
          <p:cNvSpPr>
            <a:spLocks noGrp="1"/>
          </p:cNvSpPr>
          <p:nvPr>
            <p:ph type="sldNum" sz="quarter" idx="12"/>
          </p:nvPr>
        </p:nvSpPr>
        <p:spPr/>
        <p:txBody>
          <a:bodyPr/>
          <a:lstStyle/>
          <a:p>
            <a:fld id="{BF5B04A4-2082-4D7E-8466-9BA22C990A78}" type="slidenum">
              <a:rPr lang="en-IN" smtClean="0"/>
              <a:pPr/>
              <a:t>‹#›</a:t>
            </a:fld>
            <a:endParaRPr lang="en-IN"/>
          </a:p>
        </p:txBody>
      </p:sp>
    </p:spTree>
    <p:extLst>
      <p:ext uri="{BB962C8B-B14F-4D97-AF65-F5344CB8AC3E}">
        <p14:creationId xmlns:p14="http://schemas.microsoft.com/office/powerpoint/2010/main" xmlns=""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2FDB6608-03F3-45EF-80BD-C6E305C07128}"/>
              </a:ext>
            </a:extLst>
          </p:cNvPr>
          <p:cNvSpPr>
            <a:spLocks noGrp="1"/>
          </p:cNvSpPr>
          <p:nvPr>
            <p:ph type="dt" sz="half" idx="10"/>
          </p:nvPr>
        </p:nvSpPr>
        <p:spPr/>
        <p:txBody>
          <a:bodyPr/>
          <a:lstStyle/>
          <a:p>
            <a:fld id="{2AF27EEE-1B67-445E-AA5D-351EC91D1DEB}" type="datetimeFigureOut">
              <a:rPr lang="en-IN" smtClean="0"/>
              <a:pPr/>
              <a:t>30-09-2026</a:t>
            </a:fld>
            <a:endParaRPr lang="en-IN"/>
          </a:p>
        </p:txBody>
      </p:sp>
      <p:sp>
        <p:nvSpPr>
          <p:cNvPr id="8" name="Footer Placeholder 7">
            <a:extLst>
              <a:ext uri="{FF2B5EF4-FFF2-40B4-BE49-F238E27FC236}">
                <a16:creationId xmlns:a16="http://schemas.microsoft.com/office/drawing/2014/main" xmlns=""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7706A546-DC61-467F-A112-3AC0277BB9A8}"/>
              </a:ext>
            </a:extLst>
          </p:cNvPr>
          <p:cNvSpPr>
            <a:spLocks noGrp="1"/>
          </p:cNvSpPr>
          <p:nvPr>
            <p:ph type="sldNum" sz="quarter" idx="12"/>
          </p:nvPr>
        </p:nvSpPr>
        <p:spPr/>
        <p:txBody>
          <a:bodyPr/>
          <a:lstStyle/>
          <a:p>
            <a:fld id="{BF5B04A4-2082-4D7E-8466-9BA22C990A78}" type="slidenum">
              <a:rPr lang="en-IN" smtClean="0"/>
              <a:pPr/>
              <a:t>‹#›</a:t>
            </a:fld>
            <a:endParaRPr lang="en-IN"/>
          </a:p>
        </p:txBody>
      </p:sp>
    </p:spTree>
    <p:extLst>
      <p:ext uri="{BB962C8B-B14F-4D97-AF65-F5344CB8AC3E}">
        <p14:creationId xmlns:p14="http://schemas.microsoft.com/office/powerpoint/2010/main" xmlns=""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C1059880-A67D-4A24-9138-E937AE75075F}"/>
              </a:ext>
            </a:extLst>
          </p:cNvPr>
          <p:cNvSpPr>
            <a:spLocks noGrp="1"/>
          </p:cNvSpPr>
          <p:nvPr>
            <p:ph type="dt" sz="half" idx="10"/>
          </p:nvPr>
        </p:nvSpPr>
        <p:spPr/>
        <p:txBody>
          <a:bodyPr/>
          <a:lstStyle/>
          <a:p>
            <a:fld id="{2AF27EEE-1B67-445E-AA5D-351EC91D1DEB}" type="datetimeFigureOut">
              <a:rPr lang="en-IN" smtClean="0"/>
              <a:pPr/>
              <a:t>30-09-2026</a:t>
            </a:fld>
            <a:endParaRPr lang="en-IN"/>
          </a:p>
        </p:txBody>
      </p:sp>
      <p:sp>
        <p:nvSpPr>
          <p:cNvPr id="4" name="Footer Placeholder 3">
            <a:extLst>
              <a:ext uri="{FF2B5EF4-FFF2-40B4-BE49-F238E27FC236}">
                <a16:creationId xmlns:a16="http://schemas.microsoft.com/office/drawing/2014/main" xmlns=""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8FA6B929-B579-4261-8171-35357AE9A33C}"/>
              </a:ext>
            </a:extLst>
          </p:cNvPr>
          <p:cNvSpPr>
            <a:spLocks noGrp="1"/>
          </p:cNvSpPr>
          <p:nvPr>
            <p:ph type="sldNum" sz="quarter" idx="12"/>
          </p:nvPr>
        </p:nvSpPr>
        <p:spPr/>
        <p:txBody>
          <a:bodyPr/>
          <a:lstStyle/>
          <a:p>
            <a:fld id="{BF5B04A4-2082-4D7E-8466-9BA22C990A78}" type="slidenum">
              <a:rPr lang="en-IN" smtClean="0"/>
              <a:pPr/>
              <a:t>‹#›</a:t>
            </a:fld>
            <a:endParaRPr lang="en-IN"/>
          </a:p>
        </p:txBody>
      </p:sp>
    </p:spTree>
    <p:extLst>
      <p:ext uri="{BB962C8B-B14F-4D97-AF65-F5344CB8AC3E}">
        <p14:creationId xmlns:p14="http://schemas.microsoft.com/office/powerpoint/2010/main" xmlns=""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CBAFEDF-BA35-4A7C-9388-604C048D57D0}"/>
              </a:ext>
            </a:extLst>
          </p:cNvPr>
          <p:cNvSpPr>
            <a:spLocks noGrp="1"/>
          </p:cNvSpPr>
          <p:nvPr>
            <p:ph type="dt" sz="half" idx="10"/>
          </p:nvPr>
        </p:nvSpPr>
        <p:spPr/>
        <p:txBody>
          <a:bodyPr/>
          <a:lstStyle/>
          <a:p>
            <a:fld id="{2AF27EEE-1B67-445E-AA5D-351EC91D1DEB}" type="datetimeFigureOut">
              <a:rPr lang="en-IN" smtClean="0"/>
              <a:pPr/>
              <a:t>30-09-2026</a:t>
            </a:fld>
            <a:endParaRPr lang="en-IN"/>
          </a:p>
        </p:txBody>
      </p:sp>
      <p:sp>
        <p:nvSpPr>
          <p:cNvPr id="3" name="Footer Placeholder 2">
            <a:extLst>
              <a:ext uri="{FF2B5EF4-FFF2-40B4-BE49-F238E27FC236}">
                <a16:creationId xmlns:a16="http://schemas.microsoft.com/office/drawing/2014/main" xmlns=""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7EA712EA-BE6D-4AE5-B09E-215DE5B0EE93}"/>
              </a:ext>
            </a:extLst>
          </p:cNvPr>
          <p:cNvSpPr>
            <a:spLocks noGrp="1"/>
          </p:cNvSpPr>
          <p:nvPr>
            <p:ph type="sldNum" sz="quarter" idx="12"/>
          </p:nvPr>
        </p:nvSpPr>
        <p:spPr/>
        <p:txBody>
          <a:bodyPr/>
          <a:lstStyle/>
          <a:p>
            <a:fld id="{BF5B04A4-2082-4D7E-8466-9BA22C990A78}" type="slidenum">
              <a:rPr lang="en-IN" smtClean="0"/>
              <a:pPr/>
              <a:t>‹#›</a:t>
            </a:fld>
            <a:endParaRPr lang="en-IN"/>
          </a:p>
        </p:txBody>
      </p:sp>
    </p:spTree>
    <p:extLst>
      <p:ext uri="{BB962C8B-B14F-4D97-AF65-F5344CB8AC3E}">
        <p14:creationId xmlns:p14="http://schemas.microsoft.com/office/powerpoint/2010/main" xmlns=""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9E84724-CA93-4332-A03F-0909AC5249AD}"/>
              </a:ext>
            </a:extLst>
          </p:cNvPr>
          <p:cNvSpPr>
            <a:spLocks noGrp="1"/>
          </p:cNvSpPr>
          <p:nvPr>
            <p:ph type="dt" sz="half" idx="10"/>
          </p:nvPr>
        </p:nvSpPr>
        <p:spPr/>
        <p:txBody>
          <a:bodyPr/>
          <a:lstStyle/>
          <a:p>
            <a:fld id="{2AF27EEE-1B67-445E-AA5D-351EC91D1DEB}" type="datetimeFigureOut">
              <a:rPr lang="en-IN" smtClean="0"/>
              <a:pPr/>
              <a:t>30-09-2026</a:t>
            </a:fld>
            <a:endParaRPr lang="en-IN"/>
          </a:p>
        </p:txBody>
      </p:sp>
      <p:sp>
        <p:nvSpPr>
          <p:cNvPr id="6" name="Footer Placeholder 5">
            <a:extLst>
              <a:ext uri="{FF2B5EF4-FFF2-40B4-BE49-F238E27FC236}">
                <a16:creationId xmlns:a16="http://schemas.microsoft.com/office/drawing/2014/main" xmlns=""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234AD427-BF9D-4A47-AF08-E4983B90C65A}"/>
              </a:ext>
            </a:extLst>
          </p:cNvPr>
          <p:cNvSpPr>
            <a:spLocks noGrp="1"/>
          </p:cNvSpPr>
          <p:nvPr>
            <p:ph type="sldNum" sz="quarter" idx="12"/>
          </p:nvPr>
        </p:nvSpPr>
        <p:spPr/>
        <p:txBody>
          <a:bodyPr/>
          <a:lstStyle/>
          <a:p>
            <a:fld id="{BF5B04A4-2082-4D7E-8466-9BA22C990A78}" type="slidenum">
              <a:rPr lang="en-IN" smtClean="0"/>
              <a:pPr/>
              <a:t>‹#›</a:t>
            </a:fld>
            <a:endParaRPr lang="en-IN"/>
          </a:p>
        </p:txBody>
      </p:sp>
    </p:spTree>
    <p:extLst>
      <p:ext uri="{BB962C8B-B14F-4D97-AF65-F5344CB8AC3E}">
        <p14:creationId xmlns:p14="http://schemas.microsoft.com/office/powerpoint/2010/main" xmlns=""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101BDBD-01E1-44D7-AB93-513FF196A2C4}"/>
              </a:ext>
            </a:extLst>
          </p:cNvPr>
          <p:cNvSpPr>
            <a:spLocks noGrp="1"/>
          </p:cNvSpPr>
          <p:nvPr>
            <p:ph type="dt" sz="half" idx="10"/>
          </p:nvPr>
        </p:nvSpPr>
        <p:spPr/>
        <p:txBody>
          <a:bodyPr/>
          <a:lstStyle/>
          <a:p>
            <a:fld id="{2AF27EEE-1B67-445E-AA5D-351EC91D1DEB}" type="datetimeFigureOut">
              <a:rPr lang="en-IN" smtClean="0"/>
              <a:pPr/>
              <a:t>30-09-2026</a:t>
            </a:fld>
            <a:endParaRPr lang="en-IN"/>
          </a:p>
        </p:txBody>
      </p:sp>
      <p:sp>
        <p:nvSpPr>
          <p:cNvPr id="6" name="Footer Placeholder 5">
            <a:extLst>
              <a:ext uri="{FF2B5EF4-FFF2-40B4-BE49-F238E27FC236}">
                <a16:creationId xmlns:a16="http://schemas.microsoft.com/office/drawing/2014/main" xmlns=""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7ABC8D8A-A70C-4D57-8271-DCF5EEFC33AE}"/>
              </a:ext>
            </a:extLst>
          </p:cNvPr>
          <p:cNvSpPr>
            <a:spLocks noGrp="1"/>
          </p:cNvSpPr>
          <p:nvPr>
            <p:ph type="sldNum" sz="quarter" idx="12"/>
          </p:nvPr>
        </p:nvSpPr>
        <p:spPr/>
        <p:txBody>
          <a:bodyPr/>
          <a:lstStyle/>
          <a:p>
            <a:fld id="{BF5B04A4-2082-4D7E-8466-9BA22C990A78}" type="slidenum">
              <a:rPr lang="en-IN" smtClean="0"/>
              <a:pPr/>
              <a:t>‹#›</a:t>
            </a:fld>
            <a:endParaRPr lang="en-IN"/>
          </a:p>
        </p:txBody>
      </p:sp>
    </p:spTree>
    <p:extLst>
      <p:ext uri="{BB962C8B-B14F-4D97-AF65-F5344CB8AC3E}">
        <p14:creationId xmlns:p14="http://schemas.microsoft.com/office/powerpoint/2010/main" xmlns=""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E972F85-7902-4426-947E-3509F7A06CB1}"/>
              </a:ext>
            </a:extLst>
          </p:cNvPr>
          <p:cNvSpPr>
            <a:spLocks noGrp="1"/>
          </p:cNvSpPr>
          <p:nvPr>
            <p:ph type="dt" sz="half" idx="10"/>
          </p:nvPr>
        </p:nvSpPr>
        <p:spPr/>
        <p:txBody>
          <a:bodyPr/>
          <a:lstStyle/>
          <a:p>
            <a:fld id="{2AF27EEE-1B67-445E-AA5D-351EC91D1DEB}" type="datetimeFigureOut">
              <a:rPr lang="en-IN" smtClean="0"/>
              <a:pPr/>
              <a:t>30-09-2026</a:t>
            </a:fld>
            <a:endParaRPr lang="en-IN"/>
          </a:p>
        </p:txBody>
      </p:sp>
      <p:sp>
        <p:nvSpPr>
          <p:cNvPr id="5" name="Footer Placeholder 4">
            <a:extLst>
              <a:ext uri="{FF2B5EF4-FFF2-40B4-BE49-F238E27FC236}">
                <a16:creationId xmlns:a16="http://schemas.microsoft.com/office/drawing/2014/main" xmlns=""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F6B0DE9-130B-4DA8-9A0C-06A295C9D82C}"/>
              </a:ext>
            </a:extLst>
          </p:cNvPr>
          <p:cNvSpPr>
            <a:spLocks noGrp="1"/>
          </p:cNvSpPr>
          <p:nvPr>
            <p:ph type="sldNum" sz="quarter" idx="12"/>
          </p:nvPr>
        </p:nvSpPr>
        <p:spPr/>
        <p:txBody>
          <a:bodyPr/>
          <a:lstStyle/>
          <a:p>
            <a:fld id="{BF5B04A4-2082-4D7E-8466-9BA22C990A78}" type="slidenum">
              <a:rPr lang="en-IN" smtClean="0"/>
              <a:pPr/>
              <a:t>‹#›</a:t>
            </a:fld>
            <a:endParaRPr lang="en-IN"/>
          </a:p>
        </p:txBody>
      </p:sp>
    </p:spTree>
    <p:extLst>
      <p:ext uri="{BB962C8B-B14F-4D97-AF65-F5344CB8AC3E}">
        <p14:creationId xmlns:p14="http://schemas.microsoft.com/office/powerpoint/2010/main" xmlns=""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D2348B0-3CBB-41FA-A8EC-5DFC833D7ECD}"/>
              </a:ext>
            </a:extLst>
          </p:cNvPr>
          <p:cNvSpPr>
            <a:spLocks noGrp="1"/>
          </p:cNvSpPr>
          <p:nvPr>
            <p:ph type="dt" sz="half" idx="10"/>
          </p:nvPr>
        </p:nvSpPr>
        <p:spPr/>
        <p:txBody>
          <a:bodyPr/>
          <a:lstStyle/>
          <a:p>
            <a:fld id="{2AF27EEE-1B67-445E-AA5D-351EC91D1DEB}" type="datetimeFigureOut">
              <a:rPr lang="en-IN" smtClean="0"/>
              <a:pPr/>
              <a:t>30-09-2026</a:t>
            </a:fld>
            <a:endParaRPr lang="en-IN"/>
          </a:p>
        </p:txBody>
      </p:sp>
      <p:sp>
        <p:nvSpPr>
          <p:cNvPr id="5" name="Footer Placeholder 4">
            <a:extLst>
              <a:ext uri="{FF2B5EF4-FFF2-40B4-BE49-F238E27FC236}">
                <a16:creationId xmlns:a16="http://schemas.microsoft.com/office/drawing/2014/main" xmlns=""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FDA6177-D647-4C5F-BA43-C02A1390F473}"/>
              </a:ext>
            </a:extLst>
          </p:cNvPr>
          <p:cNvSpPr>
            <a:spLocks noGrp="1"/>
          </p:cNvSpPr>
          <p:nvPr>
            <p:ph type="sldNum" sz="quarter" idx="12"/>
          </p:nvPr>
        </p:nvSpPr>
        <p:spPr/>
        <p:txBody>
          <a:bodyPr/>
          <a:lstStyle/>
          <a:p>
            <a:fld id="{BF5B04A4-2082-4D7E-8466-9BA22C990A78}" type="slidenum">
              <a:rPr lang="en-IN" smtClean="0"/>
              <a:pPr/>
              <a:t>‹#›</a:t>
            </a:fld>
            <a:endParaRPr lang="en-IN"/>
          </a:p>
        </p:txBody>
      </p:sp>
    </p:spTree>
    <p:extLst>
      <p:ext uri="{BB962C8B-B14F-4D97-AF65-F5344CB8AC3E}">
        <p14:creationId xmlns:p14="http://schemas.microsoft.com/office/powerpoint/2010/main" xmlns=""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pPr/>
              <a:t>30-09-2026</a:t>
            </a:fld>
            <a:endParaRPr lang="en-IN"/>
          </a:p>
        </p:txBody>
      </p:sp>
      <p:sp>
        <p:nvSpPr>
          <p:cNvPr id="5" name="Footer Placeholder 4">
            <a:extLst>
              <a:ext uri="{FF2B5EF4-FFF2-40B4-BE49-F238E27FC236}">
                <a16:creationId xmlns:a16="http://schemas.microsoft.com/office/drawing/2014/main" xmlns=""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pPr/>
              <a:t>‹#›</a:t>
            </a:fld>
            <a:endParaRPr lang="en-IN"/>
          </a:p>
        </p:txBody>
      </p:sp>
    </p:spTree>
    <p:extLst>
      <p:ext uri="{BB962C8B-B14F-4D97-AF65-F5344CB8AC3E}">
        <p14:creationId xmlns:p14="http://schemas.microsoft.com/office/powerpoint/2010/main" xmlns=""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sparshsinha567/SRM_SassyCoders_Theme2"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Theme ID - Theme 02 - Smart Guided Troubleshooting Engine</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Team Name </a:t>
            </a:r>
            <a:r>
              <a:rPr lang="en-US" sz="1600" dirty="0" smtClean="0">
                <a:solidFill>
                  <a:srgbClr val="63637E"/>
                </a:solidFill>
                <a:latin typeface="Calibri" pitchFamily="34" charset="0"/>
                <a:ea typeface="Calibri" pitchFamily="34" charset="-122"/>
                <a:cs typeface="Calibri" pitchFamily="34" charset="-120"/>
              </a:rPr>
              <a:t>– Sassy Coders</a:t>
            </a:r>
            <a:endParaRPr lang="en-US" sz="1600" dirty="0">
              <a:solidFill>
                <a:srgbClr val="63637E"/>
              </a:solidFill>
              <a:latin typeface="Calibri" pitchFamily="34" charset="0"/>
              <a:ea typeface="Calibri" pitchFamily="34" charset="-122"/>
              <a:cs typeface="Calibri" pitchFamily="34" charset="-120"/>
            </a:endParaRP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College Name - </a:t>
            </a:r>
            <a:r>
              <a:rPr lang="en-US" sz="1600" dirty="0" smtClean="0">
                <a:solidFill>
                  <a:srgbClr val="63637E"/>
                </a:solidFill>
                <a:latin typeface="Calibri" pitchFamily="34" charset="0"/>
                <a:ea typeface="Calibri" pitchFamily="34" charset="-122"/>
                <a:cs typeface="Calibri" pitchFamily="34" charset="-120"/>
              </a:rPr>
              <a:t>SRM</a:t>
            </a:r>
            <a:endParaRPr lang="en-US" sz="1600" dirty="0">
              <a:solidFill>
                <a:srgbClr val="63637E"/>
              </a:solidFill>
              <a:latin typeface="Calibri" pitchFamily="34" charset="0"/>
              <a:ea typeface="Calibri" pitchFamily="34" charset="-122"/>
              <a:cs typeface="Calibri" pitchFamily="34" charset="-120"/>
            </a:endParaRP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1- </a:t>
            </a:r>
            <a:r>
              <a:rPr lang="en-US" sz="1600" dirty="0" err="1" smtClean="0">
                <a:solidFill>
                  <a:srgbClr val="63637E"/>
                </a:solidFill>
                <a:latin typeface="Calibri" pitchFamily="34" charset="0"/>
                <a:ea typeface="Calibri" pitchFamily="34" charset="-122"/>
                <a:cs typeface="Calibri" pitchFamily="34" charset="-120"/>
              </a:rPr>
              <a:t>Sparsh</a:t>
            </a:r>
            <a:r>
              <a:rPr lang="en-US" sz="1600" dirty="0" smtClean="0">
                <a:solidFill>
                  <a:srgbClr val="63637E"/>
                </a:solidFill>
                <a:latin typeface="Calibri" pitchFamily="34" charset="0"/>
                <a:ea typeface="Calibri" pitchFamily="34" charset="-122"/>
                <a:cs typeface="Calibri" pitchFamily="34" charset="-120"/>
              </a:rPr>
              <a:t> </a:t>
            </a:r>
            <a:r>
              <a:rPr lang="en-US" sz="1600" dirty="0" err="1" smtClean="0">
                <a:solidFill>
                  <a:srgbClr val="63637E"/>
                </a:solidFill>
                <a:latin typeface="Calibri" pitchFamily="34" charset="0"/>
                <a:ea typeface="Calibri" pitchFamily="34" charset="-122"/>
                <a:cs typeface="Calibri" pitchFamily="34" charset="-120"/>
              </a:rPr>
              <a:t>Sinha</a:t>
            </a:r>
            <a:r>
              <a:rPr lang="en-US" sz="1600" dirty="0" smtClean="0">
                <a:solidFill>
                  <a:srgbClr val="63637E"/>
                </a:solidFill>
                <a:latin typeface="Calibri" pitchFamily="34" charset="0"/>
                <a:ea typeface="Calibri" pitchFamily="34" charset="-122"/>
                <a:cs typeface="Calibri" pitchFamily="34" charset="-120"/>
              </a:rPr>
              <a:t>   ss3165@srmist.edu.in	</a:t>
            </a:r>
            <a:endParaRPr lang="en-US" sz="1600" dirty="0">
              <a:solidFill>
                <a:srgbClr val="63637E"/>
              </a:solidFill>
              <a:latin typeface="Calibri" pitchFamily="34" charset="0"/>
              <a:ea typeface="Calibri" pitchFamily="34" charset="-122"/>
              <a:cs typeface="Calibri" pitchFamily="34" charset="-120"/>
            </a:endParaRP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2- </a:t>
            </a:r>
            <a:r>
              <a:rPr lang="en-US" sz="1600" dirty="0" err="1" smtClean="0">
                <a:solidFill>
                  <a:srgbClr val="63637E"/>
                </a:solidFill>
                <a:latin typeface="Calibri" pitchFamily="34" charset="0"/>
                <a:ea typeface="Calibri" pitchFamily="34" charset="-122"/>
                <a:cs typeface="Calibri" pitchFamily="34" charset="-120"/>
              </a:rPr>
              <a:t>Anjel</a:t>
            </a:r>
            <a:r>
              <a:rPr lang="en-US" sz="1600" dirty="0" smtClean="0">
                <a:solidFill>
                  <a:srgbClr val="63637E"/>
                </a:solidFill>
                <a:latin typeface="Calibri" pitchFamily="34" charset="0"/>
                <a:ea typeface="Calibri" pitchFamily="34" charset="-122"/>
                <a:cs typeface="Calibri" pitchFamily="34" charset="-120"/>
              </a:rPr>
              <a:t> </a:t>
            </a:r>
            <a:r>
              <a:rPr lang="en-US" sz="1600" dirty="0" err="1" smtClean="0">
                <a:solidFill>
                  <a:srgbClr val="63637E"/>
                </a:solidFill>
                <a:latin typeface="Calibri" pitchFamily="34" charset="0"/>
                <a:ea typeface="Calibri" pitchFamily="34" charset="-122"/>
                <a:cs typeface="Calibri" pitchFamily="34" charset="-120"/>
              </a:rPr>
              <a:t>Garg</a:t>
            </a:r>
            <a:r>
              <a:rPr lang="en-US" sz="1600" dirty="0" smtClean="0">
                <a:solidFill>
                  <a:srgbClr val="63637E"/>
                </a:solidFill>
                <a:latin typeface="Calibri" pitchFamily="34" charset="0"/>
                <a:ea typeface="Calibri" pitchFamily="34" charset="-122"/>
                <a:cs typeface="Calibri" pitchFamily="34" charset="-120"/>
              </a:rPr>
              <a:t>   ag4752@srmist.edu.in</a:t>
            </a:r>
            <a:endParaRPr lang="en-US" sz="1600" dirty="0">
              <a:solidFill>
                <a:srgbClr val="63637E"/>
              </a:solidFill>
              <a:latin typeface="Calibri" pitchFamily="34" charset="0"/>
              <a:ea typeface="Calibri" pitchFamily="34" charset="-122"/>
              <a:cs typeface="Calibri" pitchFamily="34" charset="-120"/>
            </a:endParaRP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3- </a:t>
            </a:r>
            <a:r>
              <a:rPr lang="en-US" sz="1600" dirty="0" err="1" smtClean="0">
                <a:solidFill>
                  <a:srgbClr val="63637E"/>
                </a:solidFill>
                <a:latin typeface="Calibri" pitchFamily="34" charset="0"/>
                <a:ea typeface="Calibri" pitchFamily="34" charset="-122"/>
                <a:cs typeface="Calibri" pitchFamily="34" charset="-120"/>
              </a:rPr>
              <a:t>Shivansh</a:t>
            </a:r>
            <a:r>
              <a:rPr lang="en-US" sz="1600" dirty="0" smtClean="0">
                <a:solidFill>
                  <a:srgbClr val="63637E"/>
                </a:solidFill>
                <a:latin typeface="Calibri" pitchFamily="34" charset="0"/>
                <a:ea typeface="Calibri" pitchFamily="34" charset="-122"/>
                <a:cs typeface="Calibri" pitchFamily="34" charset="-120"/>
              </a:rPr>
              <a:t> Singh   ss5121@srmist.edu.in</a:t>
            </a:r>
            <a:endParaRPr lang="en-US" sz="1600" dirty="0">
              <a:solidFill>
                <a:srgbClr val="63637E"/>
              </a:solidFill>
              <a:latin typeface="Calibri" pitchFamily="34" charset="0"/>
              <a:ea typeface="Calibri" pitchFamily="34" charset="-122"/>
              <a:cs typeface="Calibri" pitchFamily="34" charset="-120"/>
            </a:endParaRP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a:t>
            </a:r>
            <a:r>
              <a:rPr lang="en-US" sz="1600" dirty="0" smtClean="0">
                <a:solidFill>
                  <a:srgbClr val="63637E"/>
                </a:solidFill>
                <a:latin typeface="Calibri" pitchFamily="34" charset="0"/>
                <a:ea typeface="Calibri" pitchFamily="34" charset="-122"/>
                <a:cs typeface="Calibri" pitchFamily="34" charset="-120"/>
              </a:rPr>
              <a:t>4-Anirudh </a:t>
            </a:r>
            <a:r>
              <a:rPr lang="en-US" sz="1600" dirty="0" err="1" smtClean="0">
                <a:solidFill>
                  <a:srgbClr val="63637E"/>
                </a:solidFill>
                <a:latin typeface="Calibri" pitchFamily="34" charset="0"/>
                <a:ea typeface="Calibri" pitchFamily="34" charset="-122"/>
                <a:cs typeface="Calibri" pitchFamily="34" charset="-120"/>
              </a:rPr>
              <a:t>Chatterjee</a:t>
            </a:r>
            <a:r>
              <a:rPr lang="en-US" sz="1600" dirty="0" smtClean="0">
                <a:solidFill>
                  <a:srgbClr val="63637E"/>
                </a:solidFill>
                <a:latin typeface="Calibri" pitchFamily="34" charset="0"/>
                <a:ea typeface="Calibri" pitchFamily="34" charset="-122"/>
                <a:cs typeface="Calibri" pitchFamily="34" charset="-120"/>
              </a:rPr>
              <a:t> </a:t>
            </a:r>
            <a:r>
              <a:rPr lang="en-US" sz="1500" dirty="0" smtClean="0">
                <a:solidFill>
                  <a:srgbClr val="63637E"/>
                </a:solidFill>
                <a:latin typeface="Calibri" pitchFamily="34" charset="0"/>
                <a:ea typeface="Calibri" pitchFamily="34" charset="-122"/>
                <a:cs typeface="Calibri" pitchFamily="34" charset="-120"/>
              </a:rPr>
              <a:t>aa7998@srmist.edu.in</a:t>
            </a:r>
            <a:endParaRPr lang="en-US" sz="1500" dirty="0">
              <a:solidFill>
                <a:srgbClr val="63637E"/>
              </a:solidFill>
              <a:latin typeface="Calibri" pitchFamily="34" charset="0"/>
              <a:ea typeface="Calibri" pitchFamily="34" charset="-122"/>
              <a:cs typeface="Calibri" pitchFamily="34" charset="-120"/>
            </a:endParaRP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Submission </a:t>
            </a:r>
            <a:r>
              <a:rPr lang="en-US" sz="1600" dirty="0" err="1">
                <a:solidFill>
                  <a:srgbClr val="63637E"/>
                </a:solidFill>
                <a:latin typeface="Calibri" pitchFamily="34" charset="0"/>
                <a:ea typeface="Calibri" pitchFamily="34" charset="-122"/>
                <a:cs typeface="Calibri" pitchFamily="34" charset="-120"/>
              </a:rPr>
              <a:t>Github</a:t>
            </a:r>
            <a:r>
              <a:rPr lang="en-US" sz="1600" dirty="0">
                <a:solidFill>
                  <a:srgbClr val="63637E"/>
                </a:solidFill>
                <a:latin typeface="Calibri" pitchFamily="34" charset="0"/>
                <a:ea typeface="Calibri" pitchFamily="34" charset="-122"/>
                <a:cs typeface="Calibri" pitchFamily="34" charset="-120"/>
              </a:rPr>
              <a:t> link - </a:t>
            </a:r>
            <a:r>
              <a:rPr lang="en-US" sz="1600" dirty="0" smtClean="0">
                <a:solidFill>
                  <a:srgbClr val="63637E"/>
                </a:solidFill>
                <a:latin typeface="Calibri" pitchFamily="34" charset="0"/>
                <a:ea typeface="Calibri" pitchFamily="34" charset="-122"/>
                <a:cs typeface="Calibri" pitchFamily="34" charset="-120"/>
                <a:hlinkClick r:id="rId3"/>
              </a:rPr>
              <a:t>https://github.com/sparshsinha567/SRM_SassyCoders_Theme2</a:t>
            </a:r>
            <a:r>
              <a:rPr lang="en-US" sz="1600" dirty="0" smtClean="0">
                <a:solidFill>
                  <a:srgbClr val="63637E"/>
                </a:solidFill>
                <a:latin typeface="Calibri" pitchFamily="34" charset="0"/>
                <a:ea typeface="Calibri" pitchFamily="34" charset="-122"/>
                <a:cs typeface="Calibri" pitchFamily="34" charset="-120"/>
              </a:rPr>
              <a:t>	</a:t>
            </a:r>
            <a:endParaRPr lang="en-US" sz="1600" dirty="0">
              <a:solidFill>
                <a:srgbClr val="63637E"/>
              </a:solidFill>
              <a:latin typeface="Calibri" pitchFamily="34" charset="0"/>
              <a:ea typeface="Calibri" pitchFamily="34" charset="-122"/>
              <a:cs typeface="Calibri" pitchFamily="34" charset="-120"/>
            </a:endParaRP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4"/>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3" name="Content Placeholder 2">
            <a:extLst>
              <a:ext uri="{FF2B5EF4-FFF2-40B4-BE49-F238E27FC236}">
                <a16:creationId xmlns:a16="http://schemas.microsoft.com/office/drawing/2014/main" xmlns="" id="{539AB598-5650-4E46-905A-9096F4C50C3B}"/>
              </a:ext>
            </a:extLst>
          </p:cNvPr>
          <p:cNvSpPr>
            <a:spLocks noGrp="1"/>
          </p:cNvSpPr>
          <p:nvPr>
            <p:ph idx="1"/>
          </p:nvPr>
        </p:nvSpPr>
        <p:spPr/>
        <p:txBody>
          <a:bodyPr wrap="square"/>
          <a:lstStyle/>
          <a:p>
            <a:r>
              <a:rPr sz="2000" b="1">
                <a:solidFill>
                  <a:srgbClr val="704EA6"/>
                </a:solidFill>
              </a:rPr>
              <a:t>Theme 02: Smart Guided Troubleshooting Engine</a:t>
            </a:r>
            <a:endParaRPr lang="en-IN"/>
          </a:p>
          <a:p>
            <a:r>
              <a:rPr sz="1700" b="0">
                <a:solidFill>
                  <a:srgbClr val="222222"/>
                </a:solidFill>
              </a:rPr>
              <a:t>Customers describe device issues in vague, colloquial language, not technical terms.</a:t>
            </a:r>
          </a:p>
          <a:p>
            <a:r>
              <a:rPr sz="1700" b="0">
                <a:solidFill>
                  <a:srgbClr val="222222"/>
                </a:solidFill>
              </a:rPr>
              <a:t>Today: a support agent manually reads unstructured KB text and hand-picks troubleshooting steps — roughly 15 minutes per scenario, across millions of customer interactions.</a:t>
            </a:r>
          </a:p>
          <a:p>
            <a:r>
              <a:rPr sz="1700" b="0">
                <a:solidFill>
                  <a:srgbClr val="222222"/>
                </a:solidFill>
              </a:rPr>
              <a:t>The customer is then handed generic text and must hunt through nested Settings menus themselves.</a:t>
            </a:r>
          </a:p>
          <a:p>
            <a:r>
              <a:rPr sz="1700" b="1">
                <a:solidFill>
                  <a:srgbClr val="222222"/>
                </a:solidFill>
              </a:rPr>
              <a:t>Our goal: turn a raw complaint into a validated, deeplinked, one-tap troubleshooting plan — in under 300ms for previously-seen issues.</a:t>
            </a:r>
          </a:p>
        </p:txBody>
      </p:sp>
    </p:spTree>
    <p:extLst>
      <p:ext uri="{BB962C8B-B14F-4D97-AF65-F5344CB8AC3E}">
        <p14:creationId xmlns:p14="http://schemas.microsoft.com/office/powerpoint/2010/main" xmlns=""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Content Placeholder 2">
            <a:extLst>
              <a:ext uri="{FF2B5EF4-FFF2-40B4-BE49-F238E27FC236}">
                <a16:creationId xmlns:a16="http://schemas.microsoft.com/office/drawing/2014/main" xmlns="" id="{539AB598-5650-4E46-905A-9096F4C50C3B}"/>
              </a:ext>
            </a:extLst>
          </p:cNvPr>
          <p:cNvSpPr>
            <a:spLocks noGrp="1"/>
          </p:cNvSpPr>
          <p:nvPr>
            <p:ph idx="1"/>
          </p:nvPr>
        </p:nvSpPr>
        <p:spPr/>
        <p:txBody>
          <a:bodyPr wrap="square"/>
          <a:lstStyle/>
          <a:p>
            <a:r>
              <a:rPr sz="1600" b="0">
                <a:solidFill>
                  <a:srgbClr val="222222"/>
                </a:solidFill>
              </a:rPr>
              <a:t>Manual agent triage: reads raw KB articles by hand, ~15 min/scenario, inconsistent step ordering.</a:t>
            </a:r>
            <a:endParaRPr lang="en-IN"/>
          </a:p>
          <a:p>
            <a:r>
              <a:rPr sz="1600" b="0">
                <a:solidFill>
                  <a:srgbClr val="222222"/>
                </a:solidFill>
              </a:rPr>
              <a:t>Generic chatbots: return web-style text answers with no in-app deeplinks and no confidence signal.</a:t>
            </a:r>
          </a:p>
          <a:p>
            <a:r>
              <a:rPr sz="1600" b="0">
                <a:solidFill>
                  <a:srgbClr val="222222"/>
                </a:solidFill>
              </a:rPr>
              <a:t>Static FAQ / decision trees: brittle keyword matching that breaks on colloquial paraphrases; no caching, no cost or latency accountability.</a:t>
            </a:r>
          </a:p>
          <a:p>
            <a:r>
              <a:rPr sz="1600" b="0">
                <a:solidFill>
                  <a:srgbClr val="222222"/>
                </a:solidFill>
              </a:rPr>
              <a:t>No existing system reliably disambiguates similar-sounding fixes (e.g. “restart” vs. “safe mode”) or flags when it isn’t confident.</a:t>
            </a:r>
          </a:p>
          <a:p>
            <a:r>
              <a:rPr sz="1600" b="1">
                <a:solidFill>
                  <a:srgbClr val="704EA6"/>
                </a:solidFill>
              </a:rPr>
              <a:t>What we add: fused lexical + semantic retrieval, deterministic evidence-grounded confidence, fast-path caching, and adversarial precision testing — not just recall.</a:t>
            </a:r>
          </a:p>
        </p:txBody>
      </p:sp>
    </p:spTree>
    <p:extLst>
      <p:ext uri="{BB962C8B-B14F-4D97-AF65-F5344CB8AC3E}">
        <p14:creationId xmlns:p14="http://schemas.microsoft.com/office/powerpoint/2010/main" xmlns=""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3" name="Content Placeholder 2">
            <a:extLst>
              <a:ext uri="{FF2B5EF4-FFF2-40B4-BE49-F238E27FC236}">
                <a16:creationId xmlns:a16="http://schemas.microsoft.com/office/drawing/2014/main" xmlns="" id="{539AB598-5650-4E46-905A-9096F4C50C3B}"/>
              </a:ext>
            </a:extLst>
          </p:cNvPr>
          <p:cNvSpPr>
            <a:spLocks noGrp="1"/>
          </p:cNvSpPr>
          <p:nvPr>
            <p:ph idx="1"/>
          </p:nvPr>
        </p:nvSpPr>
        <p:spPr/>
        <p:txBody>
          <a:bodyPr wrap="square"/>
          <a:lstStyle/>
          <a:p>
            <a:r>
              <a:rPr sz="1400" b="0">
                <a:solidFill>
                  <a:srgbClr val="555555"/>
                </a:solidFill>
              </a:rPr>
              <a:t>Event-driven pipeline: a zero-LLM cache pre-check short-circuits repeat or paraphrased complaints; genuinely new complaints run a two-stage LLM pipeline (enrich, then extract) before hybrid retrieval.</a:t>
            </a:r>
            <a:endParaRPr lang="en-IN"/>
          </a:p>
        </p:txBody>
      </p:sp>
      <p:sp>
        <p:nvSpPr>
          <p:cNvPr id="4" name="Rounded Rectangle 3"/>
          <p:cNvSpPr/>
          <p:nvPr/>
        </p:nvSpPr>
        <p:spPr>
          <a:xfrm>
            <a:off x="502920" y="2697480"/>
            <a:ext cx="1965960" cy="960120"/>
          </a:xfrm>
          <a:prstGeom prst="roundRect">
            <a:avLst>
              <a:gd name="adj" fmla="val 8000"/>
            </a:avLst>
          </a:prstGeom>
          <a:solidFill>
            <a:srgbClr val="EEEEEE"/>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222222"/>
                </a:solidFill>
              </a:rPr>
              <a:t>Raw</a:t>
            </a:r>
          </a:p>
          <a:p>
            <a:pPr algn="ctr"/>
            <a:r>
              <a:rPr sz="1200" b="1">
                <a:solidFill>
                  <a:srgbClr val="222222"/>
                </a:solidFill>
              </a:rPr>
              <a:t>Complaint</a:t>
            </a:r>
          </a:p>
        </p:txBody>
      </p:sp>
      <p:sp>
        <p:nvSpPr>
          <p:cNvPr id="5" name="Rounded Rectangle 4"/>
          <p:cNvSpPr/>
          <p:nvPr/>
        </p:nvSpPr>
        <p:spPr>
          <a:xfrm>
            <a:off x="2724911" y="2697480"/>
            <a:ext cx="1965960" cy="960120"/>
          </a:xfrm>
          <a:prstGeom prst="roundRect">
            <a:avLst>
              <a:gd name="adj" fmla="val 8000"/>
            </a:avLst>
          </a:prstGeom>
          <a:solidFill>
            <a:srgbClr val="E9E2F6"/>
          </a:solidFill>
          <a:ln w="12700">
            <a:solidFill>
              <a:srgbClr val="704EA6"/>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704EA6"/>
                </a:solidFill>
              </a:rPr>
              <a:t>Fast Cache Pre-Check</a:t>
            </a:r>
          </a:p>
          <a:p>
            <a:pPr algn="ctr"/>
            <a:r>
              <a:rPr sz="1100" b="1">
                <a:solidFill>
                  <a:srgbClr val="704EA6"/>
                </a:solidFill>
              </a:rPr>
              <a:t>(0 LLM calls)</a:t>
            </a:r>
          </a:p>
        </p:txBody>
      </p:sp>
      <p:sp>
        <p:nvSpPr>
          <p:cNvPr id="6" name="Rounded Rectangle 5"/>
          <p:cNvSpPr/>
          <p:nvPr/>
        </p:nvSpPr>
        <p:spPr>
          <a:xfrm>
            <a:off x="4946903" y="2697480"/>
            <a:ext cx="1965960" cy="960120"/>
          </a:xfrm>
          <a:prstGeom prst="roundRect">
            <a:avLst>
              <a:gd name="adj" fmla="val 8000"/>
            </a:avLst>
          </a:prstGeom>
          <a:solidFill>
            <a:srgbClr val="E9E2F6"/>
          </a:solidFill>
          <a:ln w="12700">
            <a:solidFill>
              <a:srgbClr val="704EA6"/>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704EA6"/>
                </a:solidFill>
              </a:rPr>
              <a:t>LLM Pipeline:</a:t>
            </a:r>
          </a:p>
          <a:p>
            <a:pPr algn="ctr"/>
            <a:r>
              <a:rPr sz="1100" b="1">
                <a:solidFill>
                  <a:srgbClr val="704EA6"/>
                </a:solidFill>
              </a:rPr>
              <a:t>Enrich → Extract</a:t>
            </a:r>
          </a:p>
        </p:txBody>
      </p:sp>
      <p:sp>
        <p:nvSpPr>
          <p:cNvPr id="7" name="Rounded Rectangle 6"/>
          <p:cNvSpPr/>
          <p:nvPr/>
        </p:nvSpPr>
        <p:spPr>
          <a:xfrm>
            <a:off x="7168895" y="2697480"/>
            <a:ext cx="1965960" cy="960120"/>
          </a:xfrm>
          <a:prstGeom prst="roundRect">
            <a:avLst>
              <a:gd name="adj" fmla="val 8000"/>
            </a:avLst>
          </a:prstGeom>
          <a:solidFill>
            <a:srgbClr val="E9E2F6"/>
          </a:solidFill>
          <a:ln w="12700">
            <a:solidFill>
              <a:srgbClr val="704EA6"/>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704EA6"/>
                </a:solidFill>
              </a:rPr>
              <a:t>Hybrid Retrieval</a:t>
            </a:r>
          </a:p>
          <a:p>
            <a:pPr algn="ctr"/>
            <a:r>
              <a:rPr sz="1100" b="1">
                <a:solidFill>
                  <a:srgbClr val="704EA6"/>
                </a:solidFill>
              </a:rPr>
              <a:t>+ Validation</a:t>
            </a:r>
          </a:p>
        </p:txBody>
      </p:sp>
      <p:sp>
        <p:nvSpPr>
          <p:cNvPr id="8" name="Rounded Rectangle 7"/>
          <p:cNvSpPr/>
          <p:nvPr/>
        </p:nvSpPr>
        <p:spPr>
          <a:xfrm>
            <a:off x="9390888" y="2697480"/>
            <a:ext cx="1965960" cy="960120"/>
          </a:xfrm>
          <a:prstGeom prst="roundRect">
            <a:avLst>
              <a:gd name="adj" fmla="val 8000"/>
            </a:avLst>
          </a:prstGeom>
          <a:solidFill>
            <a:srgbClr val="DFF5EC"/>
          </a:solidFill>
          <a:ln w="12700">
            <a:solidFill>
              <a:srgbClr val="1F9C74"/>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1F9C74"/>
                </a:solidFill>
              </a:rPr>
              <a:t>REST API</a:t>
            </a:r>
          </a:p>
          <a:p>
            <a:pPr algn="ctr"/>
            <a:r>
              <a:rPr sz="1200" b="1">
                <a:solidFill>
                  <a:srgbClr val="1F9C74"/>
                </a:solidFill>
              </a:rPr>
              <a:t>Response</a:t>
            </a:r>
          </a:p>
        </p:txBody>
      </p:sp>
      <p:cxnSp>
        <p:nvCxnSpPr>
          <p:cNvPr id="9" name="Connector 8"/>
          <p:cNvCxnSpPr/>
          <p:nvPr/>
        </p:nvCxnSpPr>
        <p:spPr>
          <a:xfrm>
            <a:off x="2468880" y="3177540"/>
            <a:ext cx="256031" cy="0"/>
          </a:xfrm>
          <a:prstGeom prst="line">
            <a:avLst/>
          </a:prstGeom>
          <a:ln w="19050">
            <a:solidFill>
              <a:srgbClr val="99999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690871" y="3177540"/>
            <a:ext cx="256032" cy="0"/>
          </a:xfrm>
          <a:prstGeom prst="line">
            <a:avLst/>
          </a:prstGeom>
          <a:ln w="19050">
            <a:solidFill>
              <a:srgbClr val="99999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912863" y="3177540"/>
            <a:ext cx="256032" cy="0"/>
          </a:xfrm>
          <a:prstGeom prst="line">
            <a:avLst/>
          </a:prstGeom>
          <a:ln w="19050">
            <a:solidFill>
              <a:srgbClr val="99999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34855" y="3177540"/>
            <a:ext cx="256033" cy="0"/>
          </a:xfrm>
          <a:prstGeom prst="line">
            <a:avLst/>
          </a:prstGeom>
          <a:ln w="19050">
            <a:solidFill>
              <a:srgbClr val="9999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041647" y="2404872"/>
            <a:ext cx="1554480" cy="274320"/>
          </a:xfrm>
          <a:prstGeom prst="rect">
            <a:avLst/>
          </a:prstGeom>
          <a:noFill/>
        </p:spPr>
        <p:txBody>
          <a:bodyPr wrap="square" lIns="0" tIns="0" rIns="0" bIns="0">
            <a:spAutoFit/>
          </a:bodyPr>
          <a:lstStyle/>
          <a:p>
            <a:pPr algn="ctr"/>
            <a:r>
              <a:rPr sz="900" b="0" i="1">
                <a:solidFill>
                  <a:srgbClr val="666666"/>
                </a:solidFill>
              </a:rPr>
              <a:t>miss → continue pipeline</a:t>
            </a:r>
          </a:p>
        </p:txBody>
      </p:sp>
      <p:sp>
        <p:nvSpPr>
          <p:cNvPr id="14" name="Rounded Rectangle 13"/>
          <p:cNvSpPr/>
          <p:nvPr/>
        </p:nvSpPr>
        <p:spPr>
          <a:xfrm>
            <a:off x="2450591" y="4160520"/>
            <a:ext cx="2514600" cy="914400"/>
          </a:xfrm>
          <a:prstGeom prst="roundRect">
            <a:avLst>
              <a:gd name="adj" fmla="val 8000"/>
            </a:avLst>
          </a:prstGeom>
          <a:solidFill>
            <a:srgbClr val="DFF5EC"/>
          </a:solidFill>
          <a:ln w="12700">
            <a:solidFill>
              <a:srgbClr val="1F9C74"/>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1F9C74"/>
                </a:solidFill>
              </a:rPr>
              <a:t>Return Cached Plan</a:t>
            </a:r>
          </a:p>
          <a:p>
            <a:pPr algn="ctr"/>
            <a:r>
              <a:rPr sz="1100" b="1">
                <a:solidFill>
                  <a:srgbClr val="1F9C74"/>
                </a:solidFill>
              </a:rPr>
              <a:t>(~10ms median, $0 cost)</a:t>
            </a:r>
          </a:p>
          <a:p>
            <a:pPr algn="ctr"/>
            <a:r>
              <a:rPr sz="1100" b="1">
                <a:solidFill>
                  <a:srgbClr val="1F9C74"/>
                </a:solidFill>
              </a:rPr>
              <a:t>short-circuits directly to REST API response</a:t>
            </a:r>
          </a:p>
        </p:txBody>
      </p:sp>
      <p:cxnSp>
        <p:nvCxnSpPr>
          <p:cNvPr id="15" name="Connector 14"/>
          <p:cNvCxnSpPr/>
          <p:nvPr/>
        </p:nvCxnSpPr>
        <p:spPr>
          <a:xfrm>
            <a:off x="3707891" y="3657600"/>
            <a:ext cx="0" cy="502920"/>
          </a:xfrm>
          <a:prstGeom prst="line">
            <a:avLst/>
          </a:prstGeom>
          <a:ln w="19050">
            <a:solidFill>
              <a:srgbClr val="1F9C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845052" y="3822191"/>
            <a:ext cx="457200" cy="274320"/>
          </a:xfrm>
          <a:prstGeom prst="rect">
            <a:avLst/>
          </a:prstGeom>
          <a:noFill/>
        </p:spPr>
        <p:txBody>
          <a:bodyPr wrap="square" lIns="0" tIns="0" rIns="0" bIns="0">
            <a:spAutoFit/>
          </a:bodyPr>
          <a:lstStyle/>
          <a:p>
            <a:pPr algn="l"/>
            <a:r>
              <a:rPr sz="1000" b="0" i="1">
                <a:solidFill>
                  <a:srgbClr val="1F9C74"/>
                </a:solidFill>
              </a:rPr>
              <a:t>hit</a:t>
            </a:r>
          </a:p>
        </p:txBody>
      </p:sp>
    </p:spTree>
    <p:extLst>
      <p:ext uri="{BB962C8B-B14F-4D97-AF65-F5344CB8AC3E}">
        <p14:creationId xmlns:p14="http://schemas.microsoft.com/office/powerpoint/2010/main" xmlns=""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Content Placeholder 2">
            <a:extLst>
              <a:ext uri="{FF2B5EF4-FFF2-40B4-BE49-F238E27FC236}">
                <a16:creationId xmlns:a16="http://schemas.microsoft.com/office/drawing/2014/main" xmlns="" id="{539AB598-5650-4E46-905A-9096F4C50C3B}"/>
              </a:ext>
            </a:extLst>
          </p:cNvPr>
          <p:cNvSpPr>
            <a:spLocks noGrp="1"/>
          </p:cNvSpPr>
          <p:nvPr>
            <p:ph idx="1"/>
          </p:nvPr>
        </p:nvSpPr>
        <p:spPr/>
        <p:txBody>
          <a:bodyPr wrap="square"/>
          <a:lstStyle/>
          <a:p>
            <a:r>
              <a:rPr sz="1700" b="1">
                <a:solidFill>
                  <a:srgbClr val="222222"/>
                </a:solidFill>
              </a:rPr>
              <a:t>Input complaint: “My phone got really slow after the last update”</a:t>
            </a:r>
            <a:endParaRPr lang="en-IN"/>
          </a:p>
          <a:p>
            <a:pPr lvl="1"/>
            <a:r>
              <a:rPr sz="1600" b="0">
                <a:solidFill>
                  <a:srgbClr val="222222"/>
                </a:solidFill>
              </a:rPr>
              <a:t>1. Fast cache pre-check (0 LLM calls) — miss, first time this wording has been seen.</a:t>
            </a:r>
          </a:p>
          <a:p>
            <a:pPr lvl="1"/>
            <a:r>
              <a:rPr sz="1600" b="0">
                <a:solidFill>
                  <a:srgbClr val="222222"/>
                </a:solidFill>
              </a:rPr>
              <a:t>2. Query enrichment canonicalizes the complaint (“post update performance degradation smartphone lagging”), then structure extraction builds the plan.</a:t>
            </a:r>
          </a:p>
          <a:p>
            <a:pPr lvl="1"/>
            <a:r>
              <a:rPr sz="1600" b="0">
                <a:solidFill>
                  <a:srgbClr val="222222"/>
                </a:solidFill>
              </a:rPr>
              <a:t>3. Hybrid retrieval resolves the fix to the Device Care performance screen, confidence margin Δ = 0.21 → decisive match, auto-executed.</a:t>
            </a:r>
          </a:p>
          <a:p>
            <a:r>
              <a:rPr sz="1600" b="0">
                <a:solidFill>
                  <a:srgbClr val="222222"/>
                </a:solidFill>
              </a:rPr>
              <a:t>Output: a single deeplinked action — “It will optimize your device’s performance now” — with steps ordered auto → manual → critical.</a:t>
            </a:r>
          </a:p>
          <a:p>
            <a:r>
              <a:rPr sz="1600" b="1">
                <a:solidFill>
                  <a:srgbClr val="1F9C74"/>
                </a:solidFill>
              </a:rPr>
              <a:t>Next time this issue (or any paraphrase of it) is reported: served from cache in ~10ms, at $0 cost.</a:t>
            </a:r>
          </a:p>
        </p:txBody>
      </p:sp>
    </p:spTree>
    <p:extLst>
      <p:ext uri="{BB962C8B-B14F-4D97-AF65-F5344CB8AC3E}">
        <p14:creationId xmlns:p14="http://schemas.microsoft.com/office/powerpoint/2010/main" xmlns=""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Content Placeholder 2">
            <a:extLst>
              <a:ext uri="{FF2B5EF4-FFF2-40B4-BE49-F238E27FC236}">
                <a16:creationId xmlns:a16="http://schemas.microsoft.com/office/drawing/2014/main" xmlns="" id="{539AB598-5650-4E46-905A-9096F4C50C3B}"/>
              </a:ext>
            </a:extLst>
          </p:cNvPr>
          <p:cNvSpPr>
            <a:spLocks noGrp="1"/>
          </p:cNvSpPr>
          <p:nvPr>
            <p:ph idx="1"/>
          </p:nvPr>
        </p:nvSpPr>
        <p:spPr/>
        <p:txBody>
          <a:bodyPr wrap="square"/>
          <a:lstStyle/>
          <a:p>
            <a:r>
              <a:rPr sz="1600" b="0">
                <a:solidFill>
                  <a:srgbClr val="222222"/>
                </a:solidFill>
              </a:rPr>
              <a:t>Backend: FastAPI + Pydantic — schema-validated JSON contract on every response.</a:t>
            </a:r>
            <a:endParaRPr lang="en-IN" dirty="0"/>
          </a:p>
          <a:p>
            <a:r>
              <a:rPr sz="1600" b="0">
                <a:solidFill>
                  <a:srgbClr val="222222"/>
                </a:solidFill>
              </a:rPr>
              <a:t>Retrieval: rank_bm25 (stemmed sparse) + sentence-transformers all-MiniLM-L6-v2 (dense), weighted score-normalized fusion.</a:t>
            </a:r>
          </a:p>
          <a:p>
            <a:r>
              <a:rPr sz="1600" b="0">
                <a:solidFill>
                  <a:srgbClr val="222222"/>
                </a:solidFill>
              </a:rPr>
              <a:t>Reranking (evaluated, not deployed): cross-encoder/ms-marco-MiniLM-L-6-v2 — 95% held-out but 70% on the tuning split, +23ms; held for post-fine-tuning.</a:t>
            </a:r>
          </a:p>
          <a:p>
            <a:r>
              <a:rPr sz="1600" b="0">
                <a:solidFill>
                  <a:srgbClr val="222222"/>
                </a:solidFill>
              </a:rPr>
              <a:t>LLM: Gemini (gemini-flash-lite-latest), temperature = 0; deeplinks and confidence are retrieval-based and deterministic, step wording may vary slightly.</a:t>
            </a:r>
          </a:p>
          <a:p>
            <a:r>
              <a:rPr sz="1600" b="0">
                <a:solidFill>
                  <a:srgbClr val="222222"/>
                </a:solidFill>
              </a:rPr>
              <a:t>Caching: two-tier in-process cache — mechanical exact-key + semantic embedding similarity.</a:t>
            </a:r>
          </a:p>
          <a:p>
            <a:r>
              <a:rPr sz="1600" b="0">
                <a:solidFill>
                  <a:srgbClr val="222222"/>
                </a:solidFill>
              </a:rPr>
              <a:t>Resilience: 0.4s request pacing + adaptive exponential backoff for stable Gemini API latency.</a:t>
            </a:r>
          </a:p>
          <a:p>
            <a:r>
              <a:rPr sz="1600" b="0">
                <a:solidFill>
                  <a:srgbClr val="222222"/>
                </a:solidFill>
              </a:rPr>
              <a:t>Packaging: Docker + docker-compose, single-command reproducible launch.</a:t>
            </a:r>
          </a:p>
          <a:p>
            <a:r>
              <a:rPr sz="1600" b="0">
                <a:solidFill>
                  <a:srgbClr val="222222"/>
                </a:solidFill>
              </a:rPr>
              <a:t>Evaluation: ablation.py, benchmark.py, cache_precision_test.py, smoke_test.py.</a:t>
            </a:r>
          </a:p>
        </p:txBody>
      </p:sp>
    </p:spTree>
    <p:extLst>
      <p:ext uri="{BB962C8B-B14F-4D97-AF65-F5344CB8AC3E}">
        <p14:creationId xmlns:p14="http://schemas.microsoft.com/office/powerpoint/2010/main" xmlns=""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Content Placeholder 2">
            <a:extLst>
              <a:ext uri="{FF2B5EF4-FFF2-40B4-BE49-F238E27FC236}">
                <a16:creationId xmlns:a16="http://schemas.microsoft.com/office/drawing/2014/main" xmlns="" id="{539AB598-5650-4E46-905A-9096F4C50C3B}"/>
              </a:ext>
            </a:extLst>
          </p:cNvPr>
          <p:cNvSpPr>
            <a:spLocks noGrp="1"/>
          </p:cNvSpPr>
          <p:nvPr>
            <p:ph idx="1"/>
          </p:nvPr>
        </p:nvSpPr>
        <p:spPr/>
        <p:txBody>
          <a:bodyPr wrap="square"/>
          <a:lstStyle/>
          <a:p>
            <a:r>
              <a:rPr sz="1600" b="0">
                <a:solidFill>
                  <a:srgbClr val="222222"/>
                </a:solidFill>
              </a:rPr>
              <a:t>Eliminates ~15 minutes of manual agent triage per scenario, at the scale of millions of customer interactions.</a:t>
            </a:r>
            <a:endParaRPr lang="en-IN" dirty="0"/>
          </a:p>
          <a:p>
            <a:r>
              <a:rPr sz="1600" b="0">
                <a:solidFill>
                  <a:srgbClr val="222222"/>
                </a:solidFill>
              </a:rPr>
              <a:t>~10ms response for repeat or paraphrased issues (P95 15ms); genuinely new complaints resolve in 2.3s median, 4.6s P95.</a:t>
            </a:r>
          </a:p>
          <a:p>
            <a:r>
              <a:rPr sz="1600" b="0">
                <a:solidFill>
                  <a:srgbClr val="222222"/>
                </a:solidFill>
              </a:rPr>
              <a:t>~$0.0001 per cold query; $0 for every cache hit.</a:t>
            </a:r>
          </a:p>
          <a:p>
            <a:r>
              <a:rPr sz="1600" b="0">
                <a:solidFill>
                  <a:srgbClr val="222222"/>
                </a:solidFill>
              </a:rPr>
              <a:t>Vs. a full-LLM deeplink-mapping baseline: step accuracy 2.9 vs 2.1 / 3.0 and ~4× cheaper per query ($0.000107 vs $0.000420), without hallucinated URIs.</a:t>
            </a:r>
          </a:p>
          <a:p>
            <a:r>
              <a:rPr sz="1600" b="0">
                <a:solidFill>
                  <a:srgbClr val="222222"/>
                </a:solidFill>
              </a:rPr>
              <a:t>Confidence-margin routing: Δ ≥ 0.20 auto-executes; 0.10–0.20 auto-executes with an alternate-action chip; confidence below 0.40 or damage cues (“dropped in water”) escalate to a service center — no false self-service on physical damage.</a:t>
            </a:r>
          </a:p>
          <a:p>
            <a:r>
              <a:rPr sz="1600" b="1">
                <a:solidFill>
                  <a:srgbClr val="704EA6"/>
                </a:solidFill>
              </a:rPr>
              <a:t>Deterministic, catalog-grounded output: zero hallucinated deeplinks by construction, not by prompt instruction.</a:t>
            </a:r>
          </a:p>
        </p:txBody>
      </p:sp>
    </p:spTree>
    <p:extLst>
      <p:ext uri="{BB962C8B-B14F-4D97-AF65-F5344CB8AC3E}">
        <p14:creationId xmlns:p14="http://schemas.microsoft.com/office/powerpoint/2010/main" xmlns=""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and results</a:t>
            </a:r>
            <a:endParaRPr lang="en-US" sz="4400" b="1" dirty="0">
              <a:solidFill>
                <a:srgbClr val="704EA6"/>
              </a:solidFill>
            </a:endParaRPr>
          </a:p>
        </p:txBody>
      </p:sp>
      <p:sp>
        <p:nvSpPr>
          <p:cNvPr id="3" name="Content Placeholder 2">
            <a:extLst>
              <a:ext uri="{FF2B5EF4-FFF2-40B4-BE49-F238E27FC236}">
                <a16:creationId xmlns:a16="http://schemas.microsoft.com/office/drawing/2014/main" xmlns="" id="{539AB598-5650-4E46-905A-9096F4C50C3B}"/>
              </a:ext>
            </a:extLst>
          </p:cNvPr>
          <p:cNvSpPr>
            <a:spLocks noGrp="1"/>
          </p:cNvSpPr>
          <p:nvPr>
            <p:ph idx="1"/>
          </p:nvPr>
        </p:nvSpPr>
        <p:spPr/>
        <p:txBody>
          <a:bodyPr wrap="square"/>
          <a:lstStyle/>
          <a:p>
            <a:r>
              <a:rPr sz="1600" b="1">
                <a:solidFill>
                  <a:srgbClr val="704EA6"/>
                </a:solidFill>
              </a:rPr>
              <a:t>Innovation highlights</a:t>
            </a:r>
            <a:endParaRPr lang="en-IN" dirty="0"/>
          </a:p>
          <a:p>
            <a:pPr lvl="1"/>
            <a:r>
              <a:rPr sz="1300" b="0">
                <a:solidFill>
                  <a:srgbClr val="222222"/>
                </a:solidFill>
              </a:rPr>
              <a:t>Deterministic, retrieval-grounded confidence score (not LLM self-reported) with top-1/top-2 margin-based ambiguity tiering.</a:t>
            </a:r>
          </a:p>
          <a:p>
            <a:pPr lvl="1"/>
            <a:r>
              <a:rPr sz="1300" b="0">
                <a:solidFill>
                  <a:srgbClr val="222222"/>
                </a:solidFill>
              </a:rPr>
              <a:t>Cache precision testing on adversarial near-misses (100%, 4/4) — not just recall, a failure mode most systems never check.</a:t>
            </a:r>
          </a:p>
          <a:p>
            <a:pPr lvl="1"/>
            <a:r>
              <a:rPr sz="1300" b="0">
                <a:solidFill>
                  <a:srgbClr val="222222"/>
                </a:solidFill>
              </a:rPr>
              <a:t>Rigorous tuning vs. held-out protocol with zero query overlap; fusion weight tuned on the tuning split only (0.75 / 0.25 is mid-plateau).</a:t>
            </a:r>
          </a:p>
          <a:p>
            <a:pPr lvl="1"/>
            <a:r>
              <a:rPr sz="1300" b="0">
                <a:solidFill>
                  <a:srgbClr val="222222"/>
                </a:solidFill>
              </a:rPr>
              <a:t>Zero-LLM fast cache pre-check serves repeat and paraphrased complaints in ~10ms at $0 cost.</a:t>
            </a:r>
          </a:p>
          <a:p>
            <a:r>
              <a:rPr sz="1600" b="1">
                <a:solidFill>
                  <a:srgbClr val="704EA6"/>
                </a:solidFill>
              </a:rPr>
              <a:t>Results</a:t>
            </a:r>
          </a:p>
          <a:p>
            <a:pPr lvl="1"/>
            <a:r>
              <a:rPr sz="1300" b="0">
                <a:solidFill>
                  <a:srgbClr val="222222"/>
                </a:solidFill>
              </a:rPr>
              <a:t>Held-out (N=20): BM25 70.0%  |  Dense 95.0%  |  Hybrid Fusion 90.0% (production default)  |  Hybrid+Rerank 95.0%</a:t>
            </a:r>
          </a:p>
          <a:p>
            <a:pPr lvl="1"/>
            <a:r>
              <a:rPr sz="1300" b="0">
                <a:solidFill>
                  <a:srgbClr val="222222"/>
                </a:solidFill>
              </a:rPr>
              <a:t>Tuning split (N=20): BM25 70%  |  Dense 80%  |  Hybrid 80%  |  Hybrid+Rerank 70% — rerank gain did not hold across splits (1 query = 5 pts), so Hybrid stays default.</a:t>
            </a:r>
          </a:p>
          <a:p>
            <a:pPr lvl="1"/>
            <a:r>
              <a:rPr sz="1300" b="0">
                <a:solidFill>
                  <a:srgbClr val="222222"/>
                </a:solidFill>
              </a:rPr>
              <a:t>Ablation: full-LLM mapping 2.1/3.0 at $0.000420/query  |  pure rules 1.8/3.0  |  hybrid retrieval 2.9/3.0 at $0.000107/query.</a:t>
            </a:r>
          </a:p>
          <a:p>
            <a:pPr lvl="1"/>
            <a:r>
              <a:rPr sz="1300" b="0">
                <a:solidFill>
                  <a:srgbClr val="222222"/>
                </a:solidFill>
              </a:rPr>
              <a:t>Official 578-entry catalog (20/20 queries): 100% schema, deeplink and rule compliance; step accuracy 2.9/3.0; screen resolution 2.0/2.0.</a:t>
            </a:r>
          </a:p>
          <a:p>
            <a:pPr lvl="1"/>
            <a:r>
              <a:rPr sz="1300" b="0">
                <a:solidFill>
                  <a:srgbClr val="222222"/>
                </a:solidFill>
              </a:rPr>
              <a:t>Cache recall 92.0% (unseen paraphrases)  |  Cache precision 100% (4/4 adversarial pairs)</a:t>
            </a:r>
          </a:p>
          <a:p>
            <a:pPr lvl="1"/>
            <a:r>
              <a:rPr sz="1300" b="0">
                <a:solidFill>
                  <a:srgbClr val="222222"/>
                </a:solidFill>
              </a:rPr>
              <a:t>Cold latency P50 2.3s / P95 4.6s on the 578-entry catalog; cache-hit latency ~10ms.</a:t>
            </a:r>
          </a:p>
        </p:txBody>
      </p:sp>
    </p:spTree>
    <p:extLst>
      <p:ext uri="{BB962C8B-B14F-4D97-AF65-F5344CB8AC3E}">
        <p14:creationId xmlns:p14="http://schemas.microsoft.com/office/powerpoint/2010/main" xmlns=""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Content Placeholder 2">
            <a:extLst>
              <a:ext uri="{FF2B5EF4-FFF2-40B4-BE49-F238E27FC236}">
                <a16:creationId xmlns:a16="http://schemas.microsoft.com/office/drawing/2014/main" xmlns="" id="{539AB598-5650-4E46-905A-9096F4C50C3B}"/>
              </a:ext>
            </a:extLst>
          </p:cNvPr>
          <p:cNvSpPr>
            <a:spLocks noGrp="1"/>
          </p:cNvSpPr>
          <p:nvPr>
            <p:ph idx="1"/>
          </p:nvPr>
        </p:nvSpPr>
        <p:spPr/>
        <p:txBody>
          <a:bodyPr wrap="square"/>
          <a:lstStyle/>
          <a:p>
            <a:r>
              <a:rPr sz="1600" b="0">
                <a:solidFill>
                  <a:srgbClr val="222222"/>
                </a:solidFill>
              </a:rPr>
              <a:t>Expand the held-out evaluation set to n ≥ 50 for tighter statistical confidence.</a:t>
            </a:r>
          </a:p>
          <a:p>
            <a:r>
              <a:rPr sz="1600" b="0">
                <a:solidFill>
                  <a:srgbClr val="222222"/>
                </a:solidFill>
              </a:rPr>
              <a:t>Domain fine-tune via MultipleNegativesRankingLoss on Samsung (query, deeplink) pairs, then re-test the cross-encoder reranker (95% held-out vs 70% tuning) before promoting it.</a:t>
            </a:r>
          </a:p>
          <a:p>
            <a:r>
              <a:rPr sz="1600" b="0">
                <a:solidFill>
                  <a:srgbClr val="222222"/>
                </a:solidFill>
              </a:rPr>
              <a:t>Evaluate FAISS/HNSW approximate nearest-neighbor indexing if catalog-scale latency requires it.</a:t>
            </a:r>
          </a:p>
          <a:p>
            <a:r>
              <a:rPr sz="1600" b="0">
                <a:solidFill>
                  <a:srgbClr val="222222"/>
                </a:solidFill>
              </a:rPr>
              <a:t>Optional LLM final-arbitration tiebreaker for borderline-confidence (Tier 2) cases, at ~1.2s extra cold latency.</a:t>
            </a:r>
          </a:p>
          <a:p>
            <a:r>
              <a:rPr sz="1600" b="0">
                <a:solidFill>
                  <a:srgbClr val="222222"/>
                </a:solidFill>
              </a:rPr>
              <a:t>Harden for One UI / regional firmware drift (today: fall back to verified parent screens); third-party app settings stay manual by design.</a:t>
            </a:r>
          </a:p>
        </p:txBody>
      </p:sp>
    </p:spTree>
    <p:extLst>
      <p:ext uri="{BB962C8B-B14F-4D97-AF65-F5344CB8AC3E}">
        <p14:creationId xmlns:p14="http://schemas.microsoft.com/office/powerpoint/2010/main" xmlns=""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Content Placeholder 2">
            <a:extLst>
              <a:ext uri="{FF2B5EF4-FFF2-40B4-BE49-F238E27FC236}">
                <a16:creationId xmlns:a16="http://schemas.microsoft.com/office/drawing/2014/main" xmlns="" id="{539AB598-5650-4E46-905A-9096F4C50C3B}"/>
              </a:ext>
            </a:extLst>
          </p:cNvPr>
          <p:cNvSpPr>
            <a:spLocks noGrp="1"/>
          </p:cNvSpPr>
          <p:nvPr>
            <p:ph idx="1"/>
          </p:nvPr>
        </p:nvSpPr>
        <p:spPr/>
        <p:txBody>
          <a:bodyPr wrap="square"/>
          <a:lstStyle/>
          <a:p>
            <a:r>
              <a:rPr sz="1600" b="0">
                <a:solidFill>
                  <a:srgbClr val="222222"/>
                </a:solidFill>
              </a:rPr>
              <a:t>Cache tested for precision AND recall — most submissions will only test recall.</a:t>
            </a:r>
            <a:endParaRPr lang="en-IN" dirty="0"/>
          </a:p>
          <a:p>
            <a:r>
              <a:rPr sz="1600" b="0">
                <a:solidFill>
                  <a:srgbClr val="222222"/>
                </a:solidFill>
              </a:rPr>
              <a:t>Deterministic retrieval, deeplink and confidence scoring — byte-identical deeplinks across N=3 cold runs; residual step-wording variance from hosted LLM serving is disclosed, not hidden.</a:t>
            </a:r>
          </a:p>
          <a:p>
            <a:r>
              <a:rPr sz="1600" b="0">
                <a:solidFill>
                  <a:srgbClr val="222222"/>
                </a:solidFill>
              </a:rPr>
              <a:t>Concurrent-load correctness proven with an actual parallel-request isolation test, not assumed.</a:t>
            </a:r>
          </a:p>
          <a:p>
            <a:r>
              <a:rPr sz="1600" b="0">
                <a:solidFill>
                  <a:srgbClr val="222222"/>
                </a:solidFill>
              </a:rPr>
              <a:t>Transparent, versioned evaluation methodology: toy catalog → 40-entry catalog → official 578-entry catalog, each independently re-verified.</a:t>
            </a:r>
          </a:p>
          <a:p>
            <a:r>
              <a:rPr sz="1600" b="0">
                <a:solidFill>
                  <a:srgbClr val="222222"/>
                </a:solidFill>
              </a:rPr>
              <a:t>Known failure modes designed for, not ignored: hardware-damage escalation and One UI drift fallback; the “one action = one screen” invariant is covered by split/merge tests.</a:t>
            </a:r>
          </a:p>
          <a:p>
            <a:r>
              <a:rPr sz="1600" b="1">
                <a:solidFill>
                  <a:srgbClr val="704EA6"/>
                </a:solidFill>
              </a:rPr>
              <a:t>Official submission run: all 13 scorecard metrics PASS — 20/20 schema, catalog integrity, rule compliance, leaf-screen resolution, zero URL leaks.</a:t>
            </a:r>
          </a:p>
        </p:txBody>
      </p:sp>
    </p:spTree>
    <p:extLst>
      <p:ext uri="{BB962C8B-B14F-4D97-AF65-F5344CB8AC3E}">
        <p14:creationId xmlns:p14="http://schemas.microsoft.com/office/powerpoint/2010/main" xmlns=""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xmlns="" id="{DAB3E6F6-9D00-4480-90E6-EC3C876F2628}"/>
              </a:ext>
            </a:extLst>
          </p:cNvPr>
          <p:cNvSpPr>
            <a:spLocks noGrp="1"/>
          </p:cNvSpPr>
          <p:nvPr>
            <p:ph idx="1"/>
          </p:nvPr>
        </p:nvSpPr>
        <p:spPr/>
        <p:txBody>
          <a:bodyPr/>
          <a:lstStyle/>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Working prototype code — public or shared GitHub repo (Y/N) -&gt; Y</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README with reproducible setup instructions (Y/N) -&gt; Y</a:t>
            </a:r>
            <a:endParaRPr lang="en-US" sz="2800" dirty="0"/>
          </a:p>
          <a:p>
            <a:pPr marL="177800" indent="-177800">
              <a:spcAft>
                <a:spcPts val="500"/>
              </a:spcAft>
              <a:buSzPct val="100000"/>
            </a:pPr>
            <a:r>
              <a:rPr lang="en-US" sz="2800" dirty="0">
                <a:solidFill>
                  <a:srgbClr val="63637E"/>
                </a:solidFill>
                <a:latin typeface="Calibri" pitchFamily="34" charset="0"/>
                <a:ea typeface="Calibri" pitchFamily="34" charset="-122"/>
                <a:cs typeface="Calibri" pitchFamily="34" charset="-120"/>
              </a:rPr>
              <a:t>Demo video, max 5 minutes </a:t>
            </a:r>
            <a:r>
              <a:rPr lang="en-US" dirty="0" smtClean="0">
                <a:solidFill>
                  <a:srgbClr val="63637E"/>
                </a:solidFill>
                <a:latin typeface="Calibri" pitchFamily="34" charset="0"/>
                <a:ea typeface="Calibri" pitchFamily="34" charset="-122"/>
                <a:cs typeface="Calibri" pitchFamily="34" charset="-120"/>
              </a:rPr>
              <a:t>(</a:t>
            </a:r>
            <a:r>
              <a:rPr lang="en-US" sz="2800" dirty="0" smtClean="0">
                <a:solidFill>
                  <a:srgbClr val="63637E"/>
                </a:solidFill>
                <a:latin typeface="Calibri" pitchFamily="34" charset="0"/>
                <a:ea typeface="Calibri" pitchFamily="34" charset="-122"/>
                <a:cs typeface="Calibri" pitchFamily="34" charset="-120"/>
              </a:rPr>
              <a:t>Drive </a:t>
            </a:r>
            <a:r>
              <a:rPr lang="en-US" sz="2800" dirty="0">
                <a:solidFill>
                  <a:srgbClr val="63637E"/>
                </a:solidFill>
                <a:latin typeface="Calibri" pitchFamily="34" charset="0"/>
                <a:ea typeface="Calibri" pitchFamily="34" charset="-122"/>
                <a:cs typeface="Calibri" pitchFamily="34" charset="-120"/>
              </a:rPr>
              <a:t>link) -&gt; </a:t>
            </a:r>
            <a:r>
              <a:rPr lang="en-US" sz="2800" dirty="0" smtClean="0">
                <a:solidFill>
                  <a:srgbClr val="63637E"/>
                </a:solidFill>
                <a:latin typeface="Calibri" pitchFamily="34" charset="0"/>
                <a:ea typeface="Calibri" pitchFamily="34" charset="-122"/>
                <a:cs typeface="Calibri" pitchFamily="34" charset="-120"/>
              </a:rPr>
              <a:t>  	 </a:t>
            </a:r>
            <a:r>
              <a:rPr lang="en-US" dirty="0" smtClean="0">
                <a:solidFill>
                  <a:srgbClr val="63637E"/>
                </a:solidFill>
                <a:latin typeface="Calibri" pitchFamily="34" charset="0"/>
                <a:ea typeface="Calibri" pitchFamily="34" charset="-122"/>
                <a:cs typeface="Calibri" pitchFamily="34" charset="-120"/>
              </a:rPr>
              <a:t>https</a:t>
            </a:r>
            <a:r>
              <a:rPr lang="en-US" dirty="0" smtClean="0">
                <a:solidFill>
                  <a:srgbClr val="63637E"/>
                </a:solidFill>
                <a:latin typeface="Calibri" pitchFamily="34" charset="0"/>
                <a:ea typeface="Calibri" pitchFamily="34" charset="-122"/>
                <a:cs typeface="Calibri" pitchFamily="34" charset="-120"/>
              </a:rPr>
              <a:t>://</a:t>
            </a:r>
            <a:r>
              <a:rPr lang="en-US" dirty="0" smtClean="0">
                <a:solidFill>
                  <a:srgbClr val="63637E"/>
                </a:solidFill>
                <a:latin typeface="Calibri" pitchFamily="34" charset="0"/>
                <a:ea typeface="Calibri" pitchFamily="34" charset="-122"/>
                <a:cs typeface="Calibri" pitchFamily="34" charset="-120"/>
              </a:rPr>
              <a:t>drive.google.com/file/d/1QG6HCMBcaIFM_Kkzj3qLkaZNCCn6    </a:t>
            </a:r>
            <a:r>
              <a:rPr lang="en-US" dirty="0" err="1" smtClean="0">
                <a:solidFill>
                  <a:srgbClr val="63637E"/>
                </a:solidFill>
                <a:latin typeface="Calibri" pitchFamily="34" charset="0"/>
                <a:ea typeface="Calibri" pitchFamily="34" charset="-122"/>
                <a:cs typeface="Calibri" pitchFamily="34" charset="-120"/>
              </a:rPr>
              <a:t>hgUv</a:t>
            </a:r>
            <a:r>
              <a:rPr lang="en-US" dirty="0" smtClean="0">
                <a:solidFill>
                  <a:srgbClr val="63637E"/>
                </a:solidFill>
                <a:latin typeface="Calibri" pitchFamily="34" charset="0"/>
                <a:ea typeface="Calibri" pitchFamily="34" charset="-122"/>
                <a:cs typeface="Calibri" pitchFamily="34" charset="-120"/>
              </a:rPr>
              <a:t>/</a:t>
            </a:r>
            <a:r>
              <a:rPr lang="en-US" dirty="0" err="1" smtClean="0">
                <a:solidFill>
                  <a:srgbClr val="63637E"/>
                </a:solidFill>
                <a:latin typeface="Calibri" pitchFamily="34" charset="0"/>
                <a:ea typeface="Calibri" pitchFamily="34" charset="-122"/>
                <a:cs typeface="Calibri" pitchFamily="34" charset="-120"/>
              </a:rPr>
              <a:t>view?usp</a:t>
            </a:r>
            <a:r>
              <a:rPr lang="en-US" dirty="0" smtClean="0">
                <a:solidFill>
                  <a:srgbClr val="63637E"/>
                </a:solidFill>
                <a:latin typeface="Calibri" pitchFamily="34" charset="0"/>
                <a:ea typeface="Calibri" pitchFamily="34" charset="-122"/>
                <a:cs typeface="Calibri" pitchFamily="34" charset="-120"/>
              </a:rPr>
              <a:t>=</a:t>
            </a:r>
            <a:r>
              <a:rPr lang="en-US" dirty="0" err="1" smtClean="0">
                <a:solidFill>
                  <a:srgbClr val="63637E"/>
                </a:solidFill>
                <a:latin typeface="Calibri" pitchFamily="34" charset="0"/>
                <a:ea typeface="Calibri" pitchFamily="34" charset="-122"/>
                <a:cs typeface="Calibri" pitchFamily="34" charset="-120"/>
              </a:rPr>
              <a:t>drive_link</a:t>
            </a:r>
            <a:r>
              <a:rPr lang="en-US" dirty="0" smtClean="0">
                <a:solidFill>
                  <a:srgbClr val="63637E"/>
                </a:solidFill>
                <a:latin typeface="Calibri" pitchFamily="34" charset="0"/>
                <a:ea typeface="Calibri" pitchFamily="34" charset="-122"/>
                <a:cs typeface="Calibri" pitchFamily="34" charset="-120"/>
              </a:rPr>
              <a:t> </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Presentation file (PPT or PDF) (Y/N) -&gt; Y (this deck)</a:t>
            </a:r>
            <a:endParaRPr lang="en-US" sz="2800" dirty="0"/>
          </a:p>
          <a:p>
            <a:pPr marL="0" indent="0">
              <a:buNone/>
            </a:pPr>
            <a:endParaRPr lang="en-IN" dirty="0"/>
          </a:p>
        </p:txBody>
      </p:sp>
    </p:spTree>
    <p:extLst>
      <p:ext uri="{BB962C8B-B14F-4D97-AF65-F5344CB8AC3E}">
        <p14:creationId xmlns:p14="http://schemas.microsoft.com/office/powerpoint/2010/main" xmlns=""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70</TotalTime>
  <Words>1386</Words>
  <Application>Microsoft Office PowerPoint</Application>
  <PresentationFormat>Custom</PresentationFormat>
  <Paragraphs>101</Paragraphs>
  <Slides>12</Slides>
  <Notes>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Slide 1</vt:lpstr>
      <vt:lpstr>Theme</vt:lpstr>
      <vt:lpstr>Existing Solutions &amp; Gaps</vt:lpstr>
      <vt:lpstr>Our Solutions &amp; Architecture Diagram</vt:lpstr>
      <vt:lpstr>Demo &amp; Product Walkthrough</vt:lpstr>
      <vt:lpstr>Tools and tech stack used</vt:lpstr>
      <vt:lpstr>Impact &amp; Use case</vt:lpstr>
      <vt:lpstr>Innovation highlights and results</vt:lpstr>
      <vt:lpstr>What’s next</vt:lpstr>
      <vt:lpstr>Brownie points slide( differentiation)</vt:lpstr>
      <vt:lpstr>Checklist- Updated on Public GitHub</vt:lpstr>
      <vt:lpstr>Slide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sparsh</cp:lastModifiedBy>
  <cp:revision>9</cp:revision>
  <dcterms:created xsi:type="dcterms:W3CDTF">2026-09-07T12:01:01Z</dcterms:created>
  <dcterms:modified xsi:type="dcterms:W3CDTF">2026-09-30T17:46:13Z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